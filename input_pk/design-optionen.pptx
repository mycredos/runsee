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fünf Logo-Richtungen für Run &amp; See, Luzern.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Sonne, Berge und Spiegelung im See in einem Kreis.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Reine Wortmarke mit Speed-Linien, am vielseitigsten.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Auge ist zugleich der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Abstrakter Läufer in Bewegung mit Speed-Linien.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Kompaktes Rund-Logo, ideal fürs Profilbild.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02199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b="1" spc="270" kern="0" dirty="0">
                <a:solidFill>
                  <a:srgbClr val="9A9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&amp; SEE · LUCERNE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43000" y="4340349"/>
            <a:ext cx="17602200" cy="943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857"/>
              </a:lnSpc>
              <a:buNone/>
            </a:pPr>
            <a:r>
              <a:rPr lang="en-US" sz="6600" b="1" spc="-79" kern="0" dirty="0">
                <a:solidFill>
                  <a:srgbClr val="1C1A1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Logo-Optionen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5531346"/>
            <a:ext cx="1128236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97"/>
              </a:lnSpc>
              <a:buNone/>
            </a:pPr>
            <a:r>
              <a:rPr lang="en-US" sz="2100" dirty="0">
                <a:solidFill>
                  <a:srgbClr val="56514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Fünf Richtungen, die Form, Farbe und Typografie ausloten — sportlich-dynamisch, mit Bezug zu See &amp; Bergen. Wortlaut bleibt überall „Run &amp; See".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1350" spc="189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HORIZONT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57250" y="1123950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A84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Sonne, Berge und ihre Spiegelung im See in einem Kreis — ruhig, warm, unverkennbar Luzern.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4162425"/>
            <a:ext cx="10001250" cy="2667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5282" y="4733925"/>
            <a:ext cx="1524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2182" y="5229225"/>
            <a:ext cx="27260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22"/>
              </a:lnSpc>
              <a:buNone/>
            </a:pPr>
            <a:r>
              <a:rPr lang="en-US" sz="4200" b="1" spc="-42" kern="0" dirty="0">
                <a:solidFill>
                  <a:srgbClr val="163E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</a:t>
            </a:r>
            <a:pPr algn="l" indent="0" marL="0">
              <a:lnSpc>
                <a:spcPct val="78322"/>
              </a:lnSpc>
              <a:buNone/>
            </a:pPr>
            <a:r>
              <a:rPr lang="en-US" sz="4200" b="1" spc="-42" kern="0" dirty="0">
                <a:solidFill>
                  <a:srgbClr val="F268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</a:t>
            </a:r>
            <a:pPr algn="l" indent="0" marL="0">
              <a:lnSpc>
                <a:spcPct val="78322"/>
              </a:lnSpc>
              <a:buNone/>
            </a:pPr>
            <a:r>
              <a:rPr lang="en-US" sz="4200" b="1" spc="-42" kern="0" dirty="0">
                <a:solidFill>
                  <a:srgbClr val="163E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11525250" y="2190750"/>
            <a:ext cx="4000500" cy="6610350"/>
          </a:xfrm>
          <a:prstGeom prst="roundRect">
            <a:avLst>
              <a:gd name="adj" fmla="val 1429"/>
            </a:avLst>
          </a:prstGeom>
          <a:solidFill>
            <a:srgbClr val="102B4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63214" y="5095875"/>
            <a:ext cx="800100" cy="800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3814" y="5288756"/>
            <a:ext cx="168728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</a:t>
            </a:r>
            <a:pPr algn="l" indent="0" marL="0">
              <a:buNone/>
            </a:pPr>
            <a:r>
              <a:rPr lang="en-US" sz="2550" b="1" dirty="0">
                <a:solidFill>
                  <a:srgbClr val="F268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16192500" y="4722019"/>
            <a:ext cx="1238250" cy="1238250"/>
          </a:xfrm>
          <a:prstGeom prst="ellipse">
            <a:avLst/>
          </a:prstGeom>
          <a:ln/>
          <a:effectLst>
            <a:outerShdw sx="100000" sy="100000" kx="0" ky="0" algn="bl" rotWithShape="0" blurRad="762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92500" y="4722019"/>
            <a:ext cx="1238250" cy="1238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65959" y="6093619"/>
            <a:ext cx="9675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57250" y="9182100"/>
            <a:ext cx="247650" cy="247650"/>
          </a:xfrm>
          <a:prstGeom prst="ellipse">
            <a:avLst/>
          </a:prstGeom>
          <a:solidFill>
            <a:srgbClr val="163E5C"/>
          </a:solidFill>
          <a:ln/>
        </p:spPr>
      </p:sp>
      <p:sp>
        <p:nvSpPr>
          <p:cNvPr id="14" name="Shape 9"/>
          <p:cNvSpPr/>
          <p:nvPr/>
        </p:nvSpPr>
        <p:spPr>
          <a:xfrm>
            <a:off x="1257300" y="9182100"/>
            <a:ext cx="247650" cy="247650"/>
          </a:xfrm>
          <a:prstGeom prst="ellipse">
            <a:avLst/>
          </a:prstGeom>
          <a:solidFill>
            <a:srgbClr val="F2683C"/>
          </a:solidFill>
          <a:ln/>
        </p:spPr>
      </p:sp>
      <p:sp>
        <p:nvSpPr>
          <p:cNvPr id="15" name="Shape 10"/>
          <p:cNvSpPr/>
          <p:nvPr/>
        </p:nvSpPr>
        <p:spPr>
          <a:xfrm>
            <a:off x="1657350" y="9182100"/>
            <a:ext cx="247650" cy="247650"/>
          </a:xfrm>
          <a:prstGeom prst="ellipse">
            <a:avLst/>
          </a:prstGeom>
          <a:solidFill>
            <a:srgbClr val="EAF1F4"/>
          </a:solidFill>
          <a:ln/>
        </p:spPr>
      </p:sp>
      <p:sp>
        <p:nvSpPr>
          <p:cNvPr id="16" name="Text 11"/>
          <p:cNvSpPr/>
          <p:nvPr/>
        </p:nvSpPr>
        <p:spPr>
          <a:xfrm>
            <a:off x="2133600" y="9205913"/>
            <a:ext cx="22247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 · Sonne · Himmel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1350" spc="189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TEMPO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57250" y="1123950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A84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Reine Wortmarke mit Speed-Linien. Am vielseitigsten — läuft auf Web, Print und Social ohne Symbol.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4505325"/>
            <a:ext cx="1000125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2141" y="5076825"/>
            <a:ext cx="609600" cy="83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8441" y="5200650"/>
            <a:ext cx="358060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24"/>
              </a:lnSpc>
              <a:buNone/>
            </a:pPr>
            <a:r>
              <a:rPr lang="en-US" sz="4650" b="1" i="1" spc="-46" kern="0" dirty="0">
                <a:solidFill>
                  <a:srgbClr val="181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lnSpc>
                <a:spcPct val="87324"/>
              </a:lnSpc>
              <a:buNone/>
            </a:pPr>
            <a:r>
              <a:rPr lang="en-US" sz="4650" b="1" i="1" spc="-46" kern="0" dirty="0">
                <a:solidFill>
                  <a:srgbClr val="FF5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lnSpc>
                <a:spcPct val="87324"/>
              </a:lnSpc>
              <a:buNone/>
            </a:pPr>
            <a:r>
              <a:rPr lang="en-US" sz="4650" b="1" i="1" spc="-46" kern="0" dirty="0">
                <a:solidFill>
                  <a:srgbClr val="181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1525250" y="2190750"/>
            <a:ext cx="4000500" cy="6610350"/>
          </a:xfrm>
          <a:prstGeom prst="roundRect">
            <a:avLst>
              <a:gd name="adj" fmla="val 1429"/>
            </a:avLst>
          </a:prstGeom>
          <a:solidFill>
            <a:srgbClr val="18161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42168" y="5229225"/>
            <a:ext cx="381000" cy="533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94618" y="5319713"/>
            <a:ext cx="199563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pPr algn="l" indent="0" marL="0">
              <a:buNone/>
            </a:pPr>
            <a:r>
              <a:rPr lang="en-US" sz="2550" b="1" i="1" dirty="0">
                <a:solidFill>
                  <a:srgbClr val="FF5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pPr algn="l" indent="0" marL="0">
              <a:buNone/>
            </a:pPr>
            <a:r>
              <a:rPr lang="en-US" sz="25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16192500" y="4722019"/>
            <a:ext cx="1238250" cy="1238250"/>
          </a:xfrm>
          <a:prstGeom prst="ellipse">
            <a:avLst/>
          </a:prstGeom>
          <a:ln/>
          <a:effectLst>
            <a:outerShdw sx="100000" sy="100000" kx="0" ky="0" algn="bl" rotWithShape="0" blurRad="762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92500" y="4722019"/>
            <a:ext cx="1238250" cy="1238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65959" y="6093619"/>
            <a:ext cx="9675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57250" y="9182100"/>
            <a:ext cx="247650" cy="247650"/>
          </a:xfrm>
          <a:prstGeom prst="ellipse">
            <a:avLst/>
          </a:prstGeom>
          <a:solidFill>
            <a:srgbClr val="181613"/>
          </a:solidFill>
          <a:ln/>
        </p:spPr>
      </p:sp>
      <p:sp>
        <p:nvSpPr>
          <p:cNvPr id="14" name="Shape 9"/>
          <p:cNvSpPr/>
          <p:nvPr/>
        </p:nvSpPr>
        <p:spPr>
          <a:xfrm>
            <a:off x="1257300" y="9182100"/>
            <a:ext cx="247650" cy="247650"/>
          </a:xfrm>
          <a:prstGeom prst="ellipse">
            <a:avLst/>
          </a:prstGeom>
          <a:solidFill>
            <a:srgbClr val="FF5630"/>
          </a:solidFill>
          <a:ln/>
        </p:spPr>
      </p:sp>
      <p:sp>
        <p:nvSpPr>
          <p:cNvPr id="15" name="Shape 10"/>
          <p:cNvSpPr/>
          <p:nvPr/>
        </p:nvSpPr>
        <p:spPr>
          <a:xfrm>
            <a:off x="1657350" y="9182100"/>
            <a:ext cx="247650" cy="2476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2133600" y="9205913"/>
            <a:ext cx="24472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Tinte · Signal · Weiss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1350" spc="189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AUGE &amp; SEE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57250" y="1123950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A84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 Auge ist zugleich der See: Sonne über dem Wasser. Spielt mit „See" — sehen und Vierwaldstättersee.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3829050"/>
            <a:ext cx="10001250" cy="333375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5375" y="4400550"/>
            <a:ext cx="19050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80297" y="6038850"/>
            <a:ext cx="21506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550"/>
              </a:lnSpc>
              <a:buNone/>
            </a:pPr>
            <a:r>
              <a:rPr lang="en-US" sz="4350" i="1" dirty="0">
                <a:solidFill>
                  <a:srgbClr val="1F7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&amp; See</a:t>
            </a:r>
            <a:endParaRPr lang="en-US" sz="4350" dirty="0"/>
          </a:p>
        </p:txBody>
      </p:sp>
      <p:sp>
        <p:nvSpPr>
          <p:cNvPr id="7" name="Shape 4"/>
          <p:cNvSpPr/>
          <p:nvPr/>
        </p:nvSpPr>
        <p:spPr>
          <a:xfrm>
            <a:off x="11525250" y="2190750"/>
            <a:ext cx="4000500" cy="6610350"/>
          </a:xfrm>
          <a:prstGeom prst="roundRect">
            <a:avLst>
              <a:gd name="adj" fmla="val 1429"/>
            </a:avLst>
          </a:prstGeom>
          <a:solidFill>
            <a:srgbClr val="103E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1625" y="4881563"/>
            <a:ext cx="1047750" cy="762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19856" y="5738813"/>
            <a:ext cx="10874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B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&amp; See</a:t>
            </a:r>
            <a:endParaRPr lang="en-US" sz="2250" dirty="0"/>
          </a:p>
        </p:txBody>
      </p:sp>
      <p:sp>
        <p:nvSpPr>
          <p:cNvPr id="10" name="Shape 6"/>
          <p:cNvSpPr/>
          <p:nvPr/>
        </p:nvSpPr>
        <p:spPr>
          <a:xfrm>
            <a:off x="16192500" y="4722019"/>
            <a:ext cx="1238250" cy="1238250"/>
          </a:xfrm>
          <a:prstGeom prst="ellipse">
            <a:avLst/>
          </a:prstGeom>
          <a:solidFill>
            <a:srgbClr val="1F7A75"/>
          </a:solidFill>
          <a:ln/>
          <a:effectLst>
            <a:outerShdw sx="100000" sy="100000" kx="0" ky="0" algn="bl" rotWithShape="0" blurRad="762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63950" y="5017294"/>
            <a:ext cx="895350" cy="647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65959" y="6093619"/>
            <a:ext cx="9675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57250" y="9182100"/>
            <a:ext cx="247650" cy="247650"/>
          </a:xfrm>
          <a:prstGeom prst="ellipse">
            <a:avLst/>
          </a:prstGeom>
          <a:solidFill>
            <a:srgbClr val="1F7A75"/>
          </a:solidFill>
          <a:ln/>
        </p:spPr>
      </p:sp>
      <p:sp>
        <p:nvSpPr>
          <p:cNvPr id="14" name="Shape 9"/>
          <p:cNvSpPr/>
          <p:nvPr/>
        </p:nvSpPr>
        <p:spPr>
          <a:xfrm>
            <a:off x="1257300" y="9182100"/>
            <a:ext cx="247650" cy="247650"/>
          </a:xfrm>
          <a:prstGeom prst="ellipse">
            <a:avLst/>
          </a:prstGeom>
          <a:solidFill>
            <a:srgbClr val="C9A24C"/>
          </a:solidFill>
          <a:ln/>
        </p:spPr>
      </p:sp>
      <p:sp>
        <p:nvSpPr>
          <p:cNvPr id="15" name="Shape 10"/>
          <p:cNvSpPr/>
          <p:nvPr/>
        </p:nvSpPr>
        <p:spPr>
          <a:xfrm>
            <a:off x="1657350" y="9182100"/>
            <a:ext cx="247650" cy="247650"/>
          </a:xfrm>
          <a:prstGeom prst="ellipse">
            <a:avLst/>
          </a:prstGeom>
          <a:solidFill>
            <a:srgbClr val="FBF7EF"/>
          </a:solidFill>
          <a:ln/>
        </p:spPr>
      </p:sp>
      <p:sp>
        <p:nvSpPr>
          <p:cNvPr id="16" name="Text 11"/>
          <p:cNvSpPr/>
          <p:nvPr/>
        </p:nvSpPr>
        <p:spPr>
          <a:xfrm>
            <a:off x="2133600" y="9205913"/>
            <a:ext cx="23359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Petrol · Gold · Creme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1350" spc="189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SCHRITT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57250" y="1123950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A84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Abstrakter Läufer in Bewegung mit Speed-Linien dahinter — pure Energie, sofort als „Running" lesbar.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4171950"/>
            <a:ext cx="10001250" cy="264795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0984" y="4743450"/>
            <a:ext cx="1428750" cy="1504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6434" y="4935885"/>
            <a:ext cx="1494532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238"/>
              </a:lnSpc>
              <a:buNone/>
            </a:pPr>
            <a:r>
              <a:rPr lang="en-US" sz="4200" b="1" spc="-42" kern="0" dirty="0">
                <a:solidFill>
                  <a:srgbClr val="2F6B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&amp; See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11525250" y="2190750"/>
            <a:ext cx="4000500" cy="6610350"/>
          </a:xfrm>
          <a:prstGeom prst="roundRect">
            <a:avLst>
              <a:gd name="adj" fmla="val 1429"/>
            </a:avLst>
          </a:prstGeom>
          <a:solidFill>
            <a:srgbClr val="16331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8679" y="5133975"/>
            <a:ext cx="685800" cy="723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24979" y="5155927"/>
            <a:ext cx="953542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6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&amp; See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16192500" y="4722019"/>
            <a:ext cx="1238250" cy="1238250"/>
          </a:xfrm>
          <a:prstGeom prst="ellipse">
            <a:avLst/>
          </a:prstGeom>
          <a:solidFill>
            <a:srgbClr val="2F6B4A"/>
          </a:solidFill>
          <a:ln/>
          <a:effectLst>
            <a:outerShdw sx="100000" sy="100000" kx="0" ky="0" algn="bl" rotWithShape="0" blurRad="762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92525" y="4902994"/>
            <a:ext cx="838200" cy="876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65959" y="6093619"/>
            <a:ext cx="9675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57250" y="9182100"/>
            <a:ext cx="247650" cy="247650"/>
          </a:xfrm>
          <a:prstGeom prst="ellipse">
            <a:avLst/>
          </a:prstGeom>
          <a:solidFill>
            <a:srgbClr val="2F6B4A"/>
          </a:solidFill>
          <a:ln/>
        </p:spPr>
      </p:sp>
      <p:sp>
        <p:nvSpPr>
          <p:cNvPr id="14" name="Shape 9"/>
          <p:cNvSpPr/>
          <p:nvPr/>
        </p:nvSpPr>
        <p:spPr>
          <a:xfrm>
            <a:off x="1257300" y="9182100"/>
            <a:ext cx="247650" cy="247650"/>
          </a:xfrm>
          <a:prstGeom prst="ellipse">
            <a:avLst/>
          </a:prstGeom>
          <a:solidFill>
            <a:srgbClr val="EF7A3C"/>
          </a:solidFill>
          <a:ln/>
        </p:spPr>
      </p:sp>
      <p:sp>
        <p:nvSpPr>
          <p:cNvPr id="15" name="Shape 10"/>
          <p:cNvSpPr/>
          <p:nvPr/>
        </p:nvSpPr>
        <p:spPr>
          <a:xfrm>
            <a:off x="1657350" y="9182100"/>
            <a:ext cx="247650" cy="247650"/>
          </a:xfrm>
          <a:prstGeom prst="ellipse">
            <a:avLst/>
          </a:prstGeom>
          <a:solidFill>
            <a:srgbClr val="F3E7D6"/>
          </a:solidFill>
          <a:ln/>
        </p:spPr>
      </p:sp>
      <p:sp>
        <p:nvSpPr>
          <p:cNvPr id="16" name="Text 11"/>
          <p:cNvSpPr/>
          <p:nvPr/>
        </p:nvSpPr>
        <p:spPr>
          <a:xfrm>
            <a:off x="2133600" y="9205913"/>
            <a:ext cx="24472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Wald · Bewegung · Sand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857250"/>
            <a:ext cx="182308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1350" spc="189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MONOGRAMM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57250" y="1123950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A84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Kompaktes Rund-Logo mit Vorwärts-Pfeil. Stark auch im Mini-Format — ideal als Profilbild, App-Icon, Stempel.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7250" y="4162425"/>
            <a:ext cx="10001250" cy="2667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75149" y="4733925"/>
            <a:ext cx="1524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5849" y="5248275"/>
            <a:ext cx="305214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35"/>
              </a:lnSpc>
              <a:buNone/>
            </a:pPr>
            <a:r>
              <a:rPr lang="en-US" sz="3900" b="1" i="1" dirty="0">
                <a:solidFill>
                  <a:srgbClr val="1523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 </a:t>
            </a:r>
            <a:pPr algn="l" indent="0" marL="0">
              <a:lnSpc>
                <a:spcPct val="92035"/>
              </a:lnSpc>
              <a:buNone/>
            </a:pPr>
            <a:r>
              <a:rPr lang="en-US" sz="3900" b="1" i="1" dirty="0">
                <a:solidFill>
                  <a:srgbClr val="FF6B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&amp; </a:t>
            </a:r>
            <a:pPr algn="l" indent="0" marL="0">
              <a:lnSpc>
                <a:spcPct val="92035"/>
              </a:lnSpc>
              <a:buNone/>
            </a:pPr>
            <a:r>
              <a:rPr lang="en-US" sz="3900" b="1" i="1" dirty="0">
                <a:solidFill>
                  <a:srgbClr val="1523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SEE</a:t>
            </a:r>
            <a:endParaRPr lang="en-US" sz="3900" dirty="0"/>
          </a:p>
        </p:txBody>
      </p:sp>
      <p:sp>
        <p:nvSpPr>
          <p:cNvPr id="7" name="Shape 4"/>
          <p:cNvSpPr/>
          <p:nvPr/>
        </p:nvSpPr>
        <p:spPr>
          <a:xfrm>
            <a:off x="11525250" y="2190750"/>
            <a:ext cx="4000500" cy="6610350"/>
          </a:xfrm>
          <a:prstGeom prst="roundRect">
            <a:avLst>
              <a:gd name="adj" fmla="val 1429"/>
            </a:avLst>
          </a:prstGeom>
          <a:solidFill>
            <a:srgbClr val="FF6B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23093" y="5086350"/>
            <a:ext cx="819150" cy="8191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13693" y="5319713"/>
            <a:ext cx="199563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1523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 </a:t>
            </a:r>
            <a:pPr algn="l" indent="0" marL="0">
              <a:buNone/>
            </a:pPr>
            <a:r>
              <a:rPr lang="en-US" sz="2550" b="1" i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&amp; </a:t>
            </a:r>
            <a:pPr algn="l" indent="0" marL="0">
              <a:buNone/>
            </a:pPr>
            <a:r>
              <a:rPr lang="en-US" sz="2550" b="1" i="1" dirty="0">
                <a:solidFill>
                  <a:srgbClr val="1523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SEE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16192500" y="4722019"/>
            <a:ext cx="1238250" cy="1238250"/>
          </a:xfrm>
          <a:prstGeom prst="ellipse">
            <a:avLst/>
          </a:prstGeom>
          <a:ln/>
          <a:effectLst>
            <a:outerShdw sx="100000" sy="100000" kx="0" ky="0" algn="bl" rotWithShape="0" blurRad="762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92500" y="4722019"/>
            <a:ext cx="1238250" cy="1238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365959" y="6093619"/>
            <a:ext cx="9675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8A8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57250" y="9182100"/>
            <a:ext cx="247650" cy="247650"/>
          </a:xfrm>
          <a:prstGeom prst="ellipse">
            <a:avLst/>
          </a:prstGeom>
          <a:solidFill>
            <a:srgbClr val="15233B"/>
          </a:solidFill>
          <a:ln/>
        </p:spPr>
      </p:sp>
      <p:sp>
        <p:nvSpPr>
          <p:cNvPr id="14" name="Shape 9"/>
          <p:cNvSpPr/>
          <p:nvPr/>
        </p:nvSpPr>
        <p:spPr>
          <a:xfrm>
            <a:off x="1257300" y="9182100"/>
            <a:ext cx="247650" cy="24765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Shape 10"/>
          <p:cNvSpPr/>
          <p:nvPr/>
        </p:nvSpPr>
        <p:spPr>
          <a:xfrm>
            <a:off x="1657350" y="9182100"/>
            <a:ext cx="247650" cy="2476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1"/>
          <p:cNvSpPr/>
          <p:nvPr/>
        </p:nvSpPr>
        <p:spPr>
          <a:xfrm>
            <a:off x="2133600" y="9205913"/>
            <a:ext cx="24472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 · Koralle · Weiss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2026-08-01T11:04:22Z</dcterms:created>
  <dcterms:modified xsi:type="dcterms:W3CDTF">2026-08-01T11:04:22Z</dcterms:modified>
</cp:coreProperties>
</file>